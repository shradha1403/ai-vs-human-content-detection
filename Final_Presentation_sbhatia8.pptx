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457200"/>
            <a:ext cx="59436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" y="457200"/>
            <a:ext cx="59436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737360" y="457200"/>
            <a:ext cx="59436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DSA 201 • Final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vs. Human Content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600"/>
              <a:buFont typeface="Georgia"/>
              <a:buNone/>
            </a:pPr>
            <a:r>
              <a:rPr b="0" i="1" lang="en-US" sz="36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Detection: A Multilingual Analysis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246120"/>
            <a:ext cx="8229600" cy="18288"/>
          </a:xfrm>
          <a:prstGeom prst="rect">
            <a:avLst/>
          </a:prstGeom>
          <a:solidFill>
            <a:srgbClr val="3A4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3429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686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9136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text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834640" y="3429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4E79A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834640" y="39136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content categories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46320" y="3429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E2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28E2B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846320" y="39136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content domains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675120" y="3429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A14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59A14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675120" y="39136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" y="44988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Shradha Bhatia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0" y="44988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4C0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4C0D6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457200" y="420624"/>
            <a:ext cx="164592" cy="164592"/>
          </a:xfrm>
          <a:prstGeom prst="ellipse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13232" y="32004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The Dataset and why it matters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9601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79A7"/>
                </a:solidFill>
                <a:latin typeface="Calibri"/>
                <a:ea typeface="Calibri"/>
                <a:cs typeface="Calibri"/>
                <a:sym typeface="Calibri"/>
              </a:rPr>
              <a:t>Why this question?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1298448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Since 2022, generative AI tools like ChatGPT, Llama, and Gemini have made it harder to tell AI-generated text apart from human writing.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214884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That creates real problems for education, journalism, and hiring  but most detection datasets are English-only and tied to a single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154680"/>
            <a:ext cx="42062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154680"/>
            <a:ext cx="73152" cy="132588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85800" y="324612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AI vs. Human Content Detection Dataset (2026 Edition)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5800" y="35661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Kaggle — Muhammad Afaq Bhatti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" y="37947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Generated: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Jan 29,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85800" y="40233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Llama 3.1 8B, Llama 3.3 70B, Gemma 2 9B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85800" y="42519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Shape: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686 rows × 11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E79A7"/>
                </a:solidFill>
                <a:latin typeface="Calibri"/>
                <a:ea typeface="Calibri"/>
                <a:cs typeface="Calibri"/>
                <a:sym typeface="Calibri"/>
              </a:rPr>
              <a:t>What's inside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937760" y="1325880"/>
            <a:ext cx="123444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937760" y="1325880"/>
            <a:ext cx="73152" cy="118872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120640" y="141732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4E79A7"/>
                </a:solidFill>
                <a:latin typeface="Georgia"/>
                <a:ea typeface="Georgia"/>
                <a:cs typeface="Georgia"/>
                <a:sym typeface="Georgia"/>
              </a:rPr>
              <a:t>49%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120640" y="192024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120640" y="21671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 = 335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263640" y="1325880"/>
            <a:ext cx="123444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263640" y="1325880"/>
            <a:ext cx="73152" cy="1188720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446520" y="1417320"/>
            <a:ext cx="960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A14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59A14F"/>
                </a:solidFill>
                <a:latin typeface="Georgia"/>
                <a:ea typeface="Georgia"/>
                <a:cs typeface="Georgia"/>
                <a:sym typeface="Georgia"/>
              </a:rPr>
              <a:t>26%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446520" y="192024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446520" y="2167128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 = 181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589520" y="1325880"/>
            <a:ext cx="10972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589520" y="1325880"/>
            <a:ext cx="73152" cy="11887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772400" y="141732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E2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28E2B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772400" y="1920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Post-Edited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772400" y="216712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 = 170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37760" y="2697480"/>
            <a:ext cx="3749040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074920" y="2788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74920" y="309067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Domains: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Social Media, Marketing, Technical Blog, Email, News, Education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74920" y="3639312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Languages: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English, Hindi, Urdu, Arabic, Spanish, French, code-mixed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74920" y="41879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Edit levels: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none • light • heavy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vs. Human Content Detection  •  Shradha Bhatia  •  DSA 201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15200" y="48646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457200" y="420624"/>
            <a:ext cx="164592" cy="164592"/>
          </a:xfrm>
          <a:prstGeom prst="ellipse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13232" y="32004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Q1 — Does word count separate AI from human writing?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wonderful-elegant-ramanujan/mnt/outputs/charts/wc_by_type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53035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5806440" y="960120"/>
            <a:ext cx="29718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806440" y="960120"/>
            <a:ext cx="73152" cy="3566160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989320" y="1051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Median word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989320" y="13716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A14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59A14F"/>
                </a:solidFill>
                <a:latin typeface="Georgia"/>
                <a:ea typeface="Georgia"/>
                <a:cs typeface="Georgia"/>
                <a:sym typeface="Georgia"/>
              </a:rPr>
              <a:t>33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89320" y="17830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989320" y="21031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E2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28E2B"/>
                </a:solidFill>
                <a:latin typeface="Georgia"/>
                <a:ea typeface="Georgia"/>
                <a:cs typeface="Georgia"/>
                <a:sym typeface="Georgia"/>
              </a:rPr>
              <a:t>256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89320" y="2514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Post-Edited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989320" y="28346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4E79A7"/>
                </a:solidFill>
                <a:latin typeface="Georgia"/>
                <a:ea typeface="Georgia"/>
                <a:cs typeface="Georgia"/>
                <a:sym typeface="Georgia"/>
              </a:rPr>
              <a:t>347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989320" y="3246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AI-Generated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989320" y="3611880"/>
            <a:ext cx="2651760" cy="84124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080760" y="3675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writes ≈10× longer than humans.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080760" y="404164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Editing narrows the gap, but doesn't close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vs. Human Content Detection  •  Shradha Bhatia  •  DSA 201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315200" y="48646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457200" y="420624"/>
            <a:ext cx="164592" cy="164592"/>
          </a:xfrm>
          <a:prstGeom prst="ellipse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13232" y="32004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Q2 — Is AI content spread evenly across languages?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wonderful-elegant-ramanujan/mnt/outputs/charts/ai_pct_by_lang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530352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365760" y="3886200"/>
            <a:ext cx="53035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02920" y="393192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Highest AI share: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Hindi 60.6%  ·  English 57.3%  ·  Urdu 53.8%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Lowest AI share: </a:t>
            </a: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French 28.8%  ·  Code-mixed 27.7%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806440" y="960120"/>
            <a:ext cx="29718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806440" y="960120"/>
            <a:ext cx="73152" cy="35661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989320" y="1051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the data shows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989320" y="137160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AI share is NOT uniform.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A30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It ranges from 28% to 61% depending on the language.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89320" y="2331720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A44"/>
                </a:solidFill>
                <a:latin typeface="Calibri"/>
                <a:ea typeface="Calibri"/>
                <a:cs typeface="Calibri"/>
                <a:sym typeface="Calibri"/>
              </a:rPr>
              <a:t>Hindi, English, and Urdu skew AI-heavy.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0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040"/>
                </a:solidFill>
                <a:latin typeface="Calibri"/>
                <a:ea typeface="Calibri"/>
                <a:cs typeface="Calibri"/>
                <a:sym typeface="Calibri"/>
              </a:rPr>
              <a:t>This likely reflects where researchers could source AI prompts not a linguistic bias in the models.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989320" y="3611880"/>
            <a:ext cx="2651760" cy="841248"/>
          </a:xfrm>
          <a:prstGeom prst="rect">
            <a:avLst/>
          </a:prstGeom>
          <a:solidFill>
            <a:srgbClr val="1E2A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080760" y="367588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English-only detectors will under-perform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080760" y="405993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multilingual or code-mixed 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486460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vs. Human Content Detection  •  Shradha Bhatia  •  DSA 201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315200" y="48646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44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457200" y="457200"/>
            <a:ext cx="59436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097280" y="457200"/>
            <a:ext cx="59436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737360" y="457200"/>
            <a:ext cx="59436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1600200"/>
            <a:ext cx="2697480" cy="246888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1600200"/>
            <a:ext cx="2697480" cy="73152"/>
          </a:xfrm>
          <a:prstGeom prst="rect">
            <a:avLst/>
          </a:prstGeom>
          <a:solidFill>
            <a:srgbClr val="4E7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85800" y="1783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4E79A7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 count is the signal.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85800" y="269748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Humans wrote ~33-word posts; AI averaged ~347. The gap held across every domain in the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246120" y="1600200"/>
            <a:ext cx="2697480" cy="246888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246120" y="1600200"/>
            <a:ext cx="2697480" cy="73152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474720" y="1783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E2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28E2B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Editing softens, not erases.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474720" y="269748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Post-edited AI lands between the two (~256 words). Human revision reduces AI verbosity but does not hide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035040" y="1600200"/>
            <a:ext cx="2697480" cy="2468880"/>
          </a:xfrm>
          <a:prstGeom prst="rect">
            <a:avLst/>
          </a:prstGeom>
          <a:solidFill>
            <a:srgbClr val="2A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035040" y="1600200"/>
            <a:ext cx="2697480" cy="73152"/>
          </a:xfrm>
          <a:prstGeom prst="rect">
            <a:avLst/>
          </a:prstGeom>
          <a:solidFill>
            <a:srgbClr val="59A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263640" y="1783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A14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59A14F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Language matters.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263640" y="269748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share ranges from 28% to 61% across the seven languages. Detectors trained on English will miss a lot.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Detecting AI in real-world text needs multilingual data</a:t>
            </a:r>
            <a:r>
              <a:rPr i="1" lang="en-US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0" i="1" lang="en-US" sz="14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one feature and one language aren't enough.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0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0C4"/>
                </a:solidFill>
                <a:latin typeface="Calibri"/>
                <a:ea typeface="Calibri"/>
                <a:cs typeface="Calibri"/>
                <a:sym typeface="Calibri"/>
              </a:rPr>
              <a:t>Thank you  —  Shradha Bhatia  •  DSA 201 •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